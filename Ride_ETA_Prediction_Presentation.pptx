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morning/afternoon, everyone. Today I am presenting our end-to-end Machine Learning Engineering pipeline built to predict NYC taxi trip durations and ride ETAs. The core objective of this project goes far beyond simply training a model; it is about engineering a production-grade system that manages the complete ML lifecycle. As you can see on the architecture diagram, our system ingests raw trip logs, enforces strict data quality contracts via pandera, tracks data and pipeline dependencies using Data Version Control (DVC), evaluates baseline and ensemble models with MLflow experiment tracking, packages the best model inside a Docker container serving a FastAPI REST endpoint with interactive Swagger documentation, runs end-to-end browser tests using Playwright, and continuously monitors production data for distribution drift.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High-performing models require clean, reliable data. We begin our pipeline with strict data contract validation using pandera. Before any data reaches model training, it must pass schema rules: GPS coordinates must fall within valid geographic boundaries, categorical flags must match expected values, and numerical fields like passenger count and trip duration cannot be negative. If invalid data is ingested, pandera raises a schema error immediately to protect downstream pipelines. During Exploratory Data Analysis, we parsed timestamps and analyzed spatial distributions. Our analysis revealed clear hourly and weekly patterns—with demand spiking during weekday morning and evening rush hours. Mapping the pickup coordinates also confirmed concentrated trip boundaries, allowing us to safely isolate valid NYC trips and filter out spatial anomalies.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Raw trip data lacks explicit context, so our feature engineering step derives rich spatial and temporal indicators. We compute physical trip distances using the Haversine formula based on pickup and dropoff coordinates. We also extract time attributes and construct binary flags like rush_hour and is_weekend to help models capture traffic context. To prevent extreme outliers from skewing training, we apply IQR trimming across distance, passenger count, and duration fields. Crucially, all transformation steps—including median imputation, standard scaling for numeric features, and one-hot encoding for categorical flags—are wrapped into a unified ColumnTransformer pipeline. This preprocessor is saved as preprocessor.pkl, ensuring that live production requests undergo the exact same preprocessing logic as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We evaluated multiple model families to find the ideal balance of accuracy and inference speed. We started with a simple Linear Regression baseline and progressed to non-linear ensemble models, specifically Random Forest and XGBoost. We tuned XGBoost using RandomizedSearchCV across tree depth, subsample ratios, and learning rates. To ensure reproducibility, every run is logged to MLflow via our mlflow_tracker.py module. MLflow tracks hyperparameter configurations, evaluation metrics like RMSE, MAE, and R², feature importance plots, and native XGBoost artifacts. Our automated evaluation script compares all candidate runs on unseen test data, logs top prediction error reports, and registers the winning model as best_model.pkl for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Operationalizing an ML model requires reproducible pipelines and robust serving infrastructure. We manage our end-to-end data and model pipeline using Data Version Control (DVC). Defined in dvc.yaml, DVC tracks stage dependencies. When feature code or raw data changes, running dvc repro executes only out-of-date pipeline steps. For deployment, we package our serving environment using Docker. The container encapsulates our FastAPI web application, lightweight dependencies, and serialized model artifacts. Running docker compose up spins up a microservice exposing a /health endpoint and a /predict endpoint that processes JSON trip details to return estimated trip durations. Furthermore, FastAPI automatically generates interactive Swagger documentation at /docs, enabling visual API testing right from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maintain software engineering discipline, we implemented an automated testing framework using pytest and Playwright. We separate fast unit tests from heavyweight end-to-end tests using pytest markers. For system verification, we use Playwright for browser-level E2E testing. When running pytest -m e2e, Playwright launches a headless Chromium browser that navigates to the running Docker container’s Swagger UI at http://127.0.0.1:8000/docs. The test programmatically verifies that the API documentation and interactive elements render correctly, confirming that our containerized deployment frontend is healthy.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Models deployed in the real world inevitably experience performance degradation due to changing traffic patterns and seasonal shifts. To ensure continuous accuracy, we built a statistical drift detection and automated retraining module. We simulate production drift—such as weather disruptions or holiday surge traffic—and compare live feature distributions against baseline training distributions using two-sample Kolmogorov-Smirnov (KS) tests. If feature distribution shifts breach our statistical significance threshold (p &lt; 0.05), an automated alert triggers our retraining workflow. The pipeline re-fits transformers, retrains model candidates, re-evaluates selection criteria, and seamlessly updates best_model.pkl. Thank you! I will now demonstrate a live inference call via our Swagger UI and execute our Playwright test suite before opening the floor to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800" b="1">
                <a:solidFill>
                  <a:srgbClr val="1A365D"/>
                </a:solidFill>
              </a:defRPr>
            </a:pPr>
            <a:r>
              <a:t>Slide 1: End-to-End Ride-Hailing ETA Prediction Pipeline Architecture</a:t>
            </a:r>
          </a:p>
        </p:txBody>
      </p:sp>
      <p:sp>
        <p:nvSpPr>
          <p:cNvPr id="3" name="TextBox 2"/>
          <p:cNvSpPr txBox="1"/>
          <p:nvPr/>
        </p:nvSpPr>
        <p:spPr>
          <a:xfrm>
            <a:off x="731520" y="1371600"/>
            <a:ext cx="10698480" cy="4754880"/>
          </a:xfrm>
          <a:prstGeom prst="rect">
            <a:avLst/>
          </a:prstGeom>
          <a:noFill/>
        </p:spPr>
        <p:txBody>
          <a:bodyPr wrap="square">
            <a:spAutoFit/>
          </a:bodyPr>
          <a:lstStyle/>
          <a:p>
            <a:pPr>
              <a:spcAft>
                <a:spcPts val="1400"/>
              </a:spcAft>
              <a:defRPr sz="1800">
                <a:solidFill>
                  <a:srgbClr val="2D3748"/>
                </a:solidFill>
              </a:defRPr>
            </a:pPr>
            <a:r>
              <a:t>• Objective: Predict NYC Taxi trip duration and ETA using spatial, temporal, and vendor attributes.</a:t>
            </a:r>
          </a:p>
          <a:p>
            <a:pPr>
              <a:spcAft>
                <a:spcPts val="1400"/>
              </a:spcAft>
              <a:defRPr sz="1800">
                <a:solidFill>
                  <a:srgbClr val="2D3748"/>
                </a:solidFill>
              </a:defRPr>
            </a:pPr>
            <a:r>
              <a:t>• System Focus: Schema validation, DVC pipeline tracking, containerized serving, automated testing, and statistical drift detection.</a:t>
            </a:r>
          </a:p>
          <a:p>
            <a:pPr>
              <a:spcAft>
                <a:spcPts val="1400"/>
              </a:spcAft>
              <a:defRPr sz="1800">
                <a:solidFill>
                  <a:srgbClr val="2D3748"/>
                </a:solidFill>
              </a:defRPr>
            </a:pPr>
            <a:r>
              <a:t>• Core Tech Stack: Python, Pandera, DVC, Scikit-Learn, XGBoost, MLflow, FastAPI, Docker, Pytest, Playwright.</a:t>
            </a:r>
          </a:p>
          <a:p>
            <a:pPr>
              <a:spcAft>
                <a:spcPts val="1400"/>
              </a:spcAft>
              <a:defRPr sz="1800">
                <a:solidFill>
                  <a:srgbClr val="2D3748"/>
                </a:solidFill>
              </a:defRPr>
            </a:pPr>
            <a:r>
              <a:t>• Data Flow: Raw Data (NYC.csv) → Pandera Validation → DVC Feature Store → MLflow Engine → Docker/FastAPI Container → Playwright Tests → Drift Monitor.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800" b="1">
                <a:solidFill>
                  <a:srgbClr val="1A365D"/>
                </a:solidFill>
              </a:defRPr>
            </a:pPr>
            <a:r>
              <a:t>Slide 2: Data Ingestion, Schema Contracts &amp; EDA Insights</a:t>
            </a:r>
          </a:p>
        </p:txBody>
      </p:sp>
      <p:sp>
        <p:nvSpPr>
          <p:cNvPr id="3" name="TextBox 2"/>
          <p:cNvSpPr txBox="1"/>
          <p:nvPr/>
        </p:nvSpPr>
        <p:spPr>
          <a:xfrm>
            <a:off x="731520" y="1371600"/>
            <a:ext cx="10698480" cy="4754880"/>
          </a:xfrm>
          <a:prstGeom prst="rect">
            <a:avLst/>
          </a:prstGeom>
          <a:noFill/>
        </p:spPr>
        <p:txBody>
          <a:bodyPr wrap="square">
            <a:spAutoFit/>
          </a:bodyPr>
          <a:lstStyle/>
          <a:p>
            <a:pPr>
              <a:spcAft>
                <a:spcPts val="1400"/>
              </a:spcAft>
              <a:defRPr sz="1800">
                <a:solidFill>
                  <a:srgbClr val="2D3748"/>
                </a:solidFill>
              </a:defRPr>
            </a:pPr>
            <a:r>
              <a:t>• Data Ingestion: Ingests raw trip logs (NYC.csv) containing timestamps, GPS coordinates, and trip context.</a:t>
            </a:r>
          </a:p>
          <a:p>
            <a:pPr>
              <a:spcAft>
                <a:spcPts val="1400"/>
              </a:spcAft>
              <a:defRPr sz="1800">
                <a:solidFill>
                  <a:srgbClr val="2D3748"/>
                </a:solidFill>
              </a:defRPr>
            </a:pPr>
            <a:r>
              <a:t>• Schema Validation (pandera): Enforces latitude [-90, 90] / longitude [-180, 180] limits, vendor_id in {1,2}, and non-negative passenger counts &amp; durations.</a:t>
            </a:r>
          </a:p>
          <a:p>
            <a:pPr>
              <a:spcAft>
                <a:spcPts val="1400"/>
              </a:spcAft>
              <a:defRPr sz="1800">
                <a:solidFill>
                  <a:srgbClr val="2D3748"/>
                </a:solidFill>
              </a:defRPr>
            </a:pPr>
            <a:r>
              <a:t>• EDA Takeaways: Identified distinct demand spikes during weekday morning and evening rush hours.</a:t>
            </a:r>
          </a:p>
          <a:p>
            <a:pPr>
              <a:spcAft>
                <a:spcPts val="1400"/>
              </a:spcAft>
              <a:defRPr sz="1800">
                <a:solidFill>
                  <a:srgbClr val="2D3748"/>
                </a:solidFill>
              </a:defRPr>
            </a:pPr>
            <a:r>
              <a:t>• Spatial Boundary Analysis: Filtered out invalid coordinate pings and anomalies to isolate valid NYC trips.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800" b="1">
                <a:solidFill>
                  <a:srgbClr val="1A365D"/>
                </a:solidFill>
              </a:defRPr>
            </a:pPr>
            <a:r>
              <a:t>Slide 3: Modular Preprocessing &amp; Feature Engineering</a:t>
            </a:r>
          </a:p>
        </p:txBody>
      </p:sp>
      <p:sp>
        <p:nvSpPr>
          <p:cNvPr id="3" name="TextBox 2"/>
          <p:cNvSpPr txBox="1"/>
          <p:nvPr/>
        </p:nvSpPr>
        <p:spPr>
          <a:xfrm>
            <a:off x="731520" y="1371600"/>
            <a:ext cx="10698480" cy="4754880"/>
          </a:xfrm>
          <a:prstGeom prst="rect">
            <a:avLst/>
          </a:prstGeom>
          <a:noFill/>
        </p:spPr>
        <p:txBody>
          <a:bodyPr wrap="square">
            <a:spAutoFit/>
          </a:bodyPr>
          <a:lstStyle/>
          <a:p>
            <a:pPr>
              <a:spcAft>
                <a:spcPts val="1400"/>
              </a:spcAft>
              <a:defRPr sz="1800">
                <a:solidFill>
                  <a:srgbClr val="2D3748"/>
                </a:solidFill>
              </a:defRPr>
            </a:pPr>
            <a:r>
              <a:t>• Spatial Features: Computes distance_km from pickup and dropoff coordinates using the Haversine formula.</a:t>
            </a:r>
          </a:p>
          <a:p>
            <a:pPr>
              <a:spcAft>
                <a:spcPts val="1400"/>
              </a:spcAft>
              <a:defRPr sz="1800">
                <a:solidFill>
                  <a:srgbClr val="2D3748"/>
                </a:solidFill>
              </a:defRPr>
            </a:pPr>
            <a:r>
              <a:t>• Temporal Features: Derives pickup_hour, pickup_day, pickup_month, pickup_weekday, is_weekend, and rush_hour flags (7–10 AM &amp; 4–8 PM).</a:t>
            </a:r>
          </a:p>
          <a:p>
            <a:pPr>
              <a:spcAft>
                <a:spcPts val="1400"/>
              </a:spcAft>
              <a:defRPr sz="1800">
                <a:solidFill>
                  <a:srgbClr val="2D3748"/>
                </a:solidFill>
              </a:defRPr>
            </a:pPr>
            <a:r>
              <a:t>• Outlier Quality Control: Applies IQR filtering (Q1 - 1.5*IQR to Q3 + 1.5*IQR) to clean extreme distance, passenger, and duration outliers.</a:t>
            </a:r>
          </a:p>
          <a:p>
            <a:pPr>
              <a:spcAft>
                <a:spcPts val="1400"/>
              </a:spcAft>
              <a:defRPr sz="1800">
                <a:solidFill>
                  <a:srgbClr val="2D3748"/>
                </a:solidFill>
              </a:defRPr>
            </a:pPr>
            <a:r>
              <a:t>• Artifact Serialization: Packages imputation, standard scaling, and one-hot encoding into ColumnTransformer saved as preprocessor.pkl.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800" b="1">
                <a:solidFill>
                  <a:srgbClr val="1A365D"/>
                </a:solidFill>
              </a:defRPr>
            </a:pPr>
            <a:r>
              <a:t>Slide 4: Experimentation, MLflow Tracking &amp; Model Selection</a:t>
            </a:r>
          </a:p>
        </p:txBody>
      </p:sp>
      <p:sp>
        <p:nvSpPr>
          <p:cNvPr id="3" name="TextBox 2"/>
          <p:cNvSpPr txBox="1"/>
          <p:nvPr/>
        </p:nvSpPr>
        <p:spPr>
          <a:xfrm>
            <a:off x="731520" y="1371600"/>
            <a:ext cx="10698480" cy="4754880"/>
          </a:xfrm>
          <a:prstGeom prst="rect">
            <a:avLst/>
          </a:prstGeom>
          <a:noFill/>
        </p:spPr>
        <p:txBody>
          <a:bodyPr wrap="square">
            <a:spAutoFit/>
          </a:bodyPr>
          <a:lstStyle/>
          <a:p>
            <a:pPr>
              <a:spcAft>
                <a:spcPts val="1400"/>
              </a:spcAft>
              <a:defRPr sz="1800">
                <a:solidFill>
                  <a:srgbClr val="2D3748"/>
                </a:solidFill>
              </a:defRPr>
            </a:pPr>
            <a:r>
              <a:t>• Model Exploration: Evaluated Linear Regression baseline against Random Forest Regressor and Tuned XGBoost Regressor.</a:t>
            </a:r>
          </a:p>
          <a:p>
            <a:pPr>
              <a:spcAft>
                <a:spcPts val="1400"/>
              </a:spcAft>
              <a:defRPr sz="1800">
                <a:solidFill>
                  <a:srgbClr val="2D3748"/>
                </a:solidFill>
              </a:defRPr>
            </a:pPr>
            <a:r>
              <a:t>• Hyperparameter Search: Tuned XGBoost (n_estimators, max_depth, learning_rate, subsample) via RandomizedSearchCV.</a:t>
            </a:r>
          </a:p>
          <a:p>
            <a:pPr>
              <a:spcAft>
                <a:spcPts val="1400"/>
              </a:spcAft>
              <a:defRPr sz="1800">
                <a:solidFill>
                  <a:srgbClr val="2D3748"/>
                </a:solidFill>
              </a:defRPr>
            </a:pPr>
            <a:r>
              <a:t>• MLflow Tracking: Logs parameters, metrics (RMSE, MAE, R²), feature importances, and error reports (top_1000_prediction_errors.csv).</a:t>
            </a:r>
          </a:p>
          <a:p>
            <a:pPr>
              <a:spcAft>
                <a:spcPts val="1400"/>
              </a:spcAft>
              <a:defRPr sz="1800">
                <a:solidFill>
                  <a:srgbClr val="2D3748"/>
                </a:solidFill>
              </a:defRPr>
            </a:pPr>
            <a:r>
              <a:t>• Automated Selection: Evaluates candidate artifacts on unseen test data and registers the top performer as best_model.pkl.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800" b="1">
                <a:solidFill>
                  <a:srgbClr val="1A365D"/>
                </a:solidFill>
              </a:defRPr>
            </a:pPr>
            <a:r>
              <a:t>Slide 5: Version Control (DVC), Container Packaging &amp; REST Serving</a:t>
            </a:r>
          </a:p>
        </p:txBody>
      </p:sp>
      <p:sp>
        <p:nvSpPr>
          <p:cNvPr id="3" name="TextBox 2"/>
          <p:cNvSpPr txBox="1"/>
          <p:nvPr/>
        </p:nvSpPr>
        <p:spPr>
          <a:xfrm>
            <a:off x="731520" y="1371600"/>
            <a:ext cx="10698480" cy="4754880"/>
          </a:xfrm>
          <a:prstGeom prst="rect">
            <a:avLst/>
          </a:prstGeom>
          <a:noFill/>
        </p:spPr>
        <p:txBody>
          <a:bodyPr wrap="square">
            <a:spAutoFit/>
          </a:bodyPr>
          <a:lstStyle/>
          <a:p>
            <a:pPr>
              <a:spcAft>
                <a:spcPts val="1400"/>
              </a:spcAft>
              <a:defRPr sz="1800">
                <a:solidFill>
                  <a:srgbClr val="2D3748"/>
                </a:solidFill>
              </a:defRPr>
            </a:pPr>
            <a:r>
              <a:t>• DVC Pipeline (dvc.yaml): Tracks stage dependencies; enables incremental pipeline execution via dvc repro and remote tracking via dvc push.</a:t>
            </a:r>
          </a:p>
          <a:p>
            <a:pPr>
              <a:spcAft>
                <a:spcPts val="1400"/>
              </a:spcAft>
              <a:defRPr sz="1800">
                <a:solidFill>
                  <a:srgbClr val="2D3748"/>
                </a:solidFill>
              </a:defRPr>
            </a:pPr>
            <a:r>
              <a:t>• Docker Packaging: Containers isolate FastAPI serving code, dependencies, and best_model.pkl via docker compose up --build.</a:t>
            </a:r>
          </a:p>
          <a:p>
            <a:pPr>
              <a:spcAft>
                <a:spcPts val="1400"/>
              </a:spcAft>
              <a:defRPr sz="1800">
                <a:solidFill>
                  <a:srgbClr val="2D3748"/>
                </a:solidFill>
              </a:defRPr>
            </a:pPr>
            <a:r>
              <a:t>• FastAPI Endpoints: Exposes GET /health for readiness probes and POST /predict returning predicted trip duration in seconds and minutes.</a:t>
            </a:r>
          </a:p>
          <a:p>
            <a:pPr>
              <a:spcAft>
                <a:spcPts val="1400"/>
              </a:spcAft>
              <a:defRPr sz="1800">
                <a:solidFill>
                  <a:srgbClr val="2D3748"/>
                </a:solidFill>
              </a:defRPr>
            </a:pPr>
            <a:r>
              <a:t>• Interactive Swagger UI: Automatically generates interactive documentation accessible at http://localhost:8000/docs.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800" b="1">
                <a:solidFill>
                  <a:srgbClr val="1A365D"/>
                </a:solidFill>
              </a:defRPr>
            </a:pPr>
            <a:r>
              <a:t>Slide 6: Quality Assurance: Automated Testing Suite</a:t>
            </a:r>
          </a:p>
        </p:txBody>
      </p:sp>
      <p:sp>
        <p:nvSpPr>
          <p:cNvPr id="3" name="TextBox 2"/>
          <p:cNvSpPr txBox="1"/>
          <p:nvPr/>
        </p:nvSpPr>
        <p:spPr>
          <a:xfrm>
            <a:off x="731520" y="1371600"/>
            <a:ext cx="10698480" cy="4754880"/>
          </a:xfrm>
          <a:prstGeom prst="rect">
            <a:avLst/>
          </a:prstGeom>
          <a:noFill/>
        </p:spPr>
        <p:txBody>
          <a:bodyPr wrap="square">
            <a:spAutoFit/>
          </a:bodyPr>
          <a:lstStyle/>
          <a:p>
            <a:pPr>
              <a:spcAft>
                <a:spcPts val="1400"/>
              </a:spcAft>
              <a:defRPr sz="1800">
                <a:solidFill>
                  <a:srgbClr val="2D3748"/>
                </a:solidFill>
              </a:defRPr>
            </a:pPr>
            <a:r>
              <a:t>• Test Suite Division: Leverages custom pytest markers (-m e2e) to separate fast local unit tests from integration tests.</a:t>
            </a:r>
          </a:p>
          <a:p>
            <a:pPr>
              <a:spcAft>
                <a:spcPts val="1400"/>
              </a:spcAft>
              <a:defRPr sz="1800">
                <a:solidFill>
                  <a:srgbClr val="2D3748"/>
                </a:solidFill>
              </a:defRPr>
            </a:pPr>
            <a:r>
              <a:t>• Fast Contract Tests: Executes unit logic and data contract checks without launching Docker containers or models.</a:t>
            </a:r>
          </a:p>
          <a:p>
            <a:pPr>
              <a:spcAft>
                <a:spcPts val="1400"/>
              </a:spcAft>
              <a:defRPr sz="1800">
                <a:solidFill>
                  <a:srgbClr val="2D3748"/>
                </a:solidFill>
              </a:defRPr>
            </a:pPr>
            <a:r>
              <a:t>• Playwright E2E Driver: Launches a headless Chromium browser instance against live container (pytest -m e2e --browser chromium).</a:t>
            </a:r>
          </a:p>
          <a:p>
            <a:pPr>
              <a:spcAft>
                <a:spcPts val="1400"/>
              </a:spcAft>
              <a:defRPr sz="1800">
                <a:solidFill>
                  <a:srgbClr val="2D3748"/>
                </a:solidFill>
              </a:defRPr>
            </a:pPr>
            <a:r>
              <a:t>• Visual UI Assertion: Programmatically verifies that Swagger UI loads at http://127.0.0.1:8000/docs and endpoints render properly.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800" b="1">
                <a:solidFill>
                  <a:srgbClr val="1A365D"/>
                </a:solidFill>
              </a:defRPr>
            </a:pPr>
            <a:r>
              <a:t>Slide 7: Continuous Drift Monitoring &amp; Automated Retraining</a:t>
            </a:r>
          </a:p>
        </p:txBody>
      </p:sp>
      <p:sp>
        <p:nvSpPr>
          <p:cNvPr id="3" name="TextBox 2"/>
          <p:cNvSpPr txBox="1"/>
          <p:nvPr/>
        </p:nvSpPr>
        <p:spPr>
          <a:xfrm>
            <a:off x="731520" y="1371600"/>
            <a:ext cx="10698480" cy="4754880"/>
          </a:xfrm>
          <a:prstGeom prst="rect">
            <a:avLst/>
          </a:prstGeom>
          <a:noFill/>
        </p:spPr>
        <p:txBody>
          <a:bodyPr wrap="square">
            <a:spAutoFit/>
          </a:bodyPr>
          <a:lstStyle/>
          <a:p>
            <a:pPr>
              <a:spcAft>
                <a:spcPts val="1400"/>
              </a:spcAft>
              <a:defRPr sz="1800">
                <a:solidFill>
                  <a:srgbClr val="2D3748"/>
                </a:solidFill>
              </a:defRPr>
            </a:pPr>
            <a:r>
              <a:t>• Production Challenge: Real-world seasonal shifts, weather variations, and holiday rush hours degrade static models over time.</a:t>
            </a:r>
          </a:p>
          <a:p>
            <a:pPr>
              <a:spcAft>
                <a:spcPts val="1400"/>
              </a:spcAft>
              <a:defRPr sz="1800">
                <a:solidFill>
                  <a:srgbClr val="2D3748"/>
                </a:solidFill>
              </a:defRPr>
            </a:pPr>
            <a:r>
              <a:t>• Drift Simulation: Simulates traffic congestion surges and distance detours on incoming live feature payloads.</a:t>
            </a:r>
          </a:p>
          <a:p>
            <a:pPr>
              <a:spcAft>
                <a:spcPts val="1400"/>
              </a:spcAft>
              <a:defRPr sz="1800">
                <a:solidFill>
                  <a:srgbClr val="2D3748"/>
                </a:solidFill>
              </a:defRPr>
            </a:pPr>
            <a:r>
              <a:t>• Statistical Testing: Applies Kolmogorov-Smirnov (KS) two-sample tests across numeric features to flag distribution shifts (p &lt; 0.05).</a:t>
            </a:r>
          </a:p>
          <a:p>
            <a:pPr>
              <a:spcAft>
                <a:spcPts val="1400"/>
              </a:spcAft>
              <a:defRPr sz="1800">
                <a:solidFill>
                  <a:srgbClr val="2D3748"/>
                </a:solidFill>
              </a:defRPr>
            </a:pPr>
            <a:r>
              <a:t>• Retraining Loop: Automated trigger executes retraining (dvc repro), re-fits preprocessors, updates hyperparameters, and deploys new best_model.pkl.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